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?>
<Relationships xmlns="http://schemas.openxmlformats.org/package/2006/relationships">
  
  
		
  
  <Relationship Id="rId1" Type="http://schemas.openxmlformats.org/officeDocument/2006/relationships/extended-properties" Target="docProps/app.xml"/>
  
  
		
  
  <Relationship Id="rId2" Type="http://schemas.openxmlformats.org/package/2006/relationships/metadata/core-properties" Target="docProps/core.xml"/>
  
  
		
  
  <Relationship Id="rId3" Type="http://schemas.openxmlformats.org/officeDocument/2006/relationships/officeDocument" Target="ppt/presentation.xml"/>
  
  
		
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23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24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
  
  
  <Relationship Id="rId1" Type="http://schemas.openxmlformats.org/officeDocument/2006/relationships/slideMaster" Target="slideMasters/slideMaster1.xml"/>
  
  
  <Relationship Id="rId2" Type="http://schemas.openxmlformats.org/officeDocument/2006/relationships/slide" Target="slides/slide1.xml"/>
  
  
  <Relationship Id="rId3" Type="http://schemas.openxmlformats.org/officeDocument/2006/relationships/slide" Target="slides/slide2.xml"/>
  
  
  <Relationship Id="rId4" Type="http://schemas.openxmlformats.org/officeDocument/2006/relationships/slide" Target="slides/slide3.xml"/>
  
  
  <Relationship Id="rId5" Type="http://schemas.openxmlformats.org/officeDocument/2006/relationships/slide" Target="slides/slide4.xml"/>
  
  
  <Relationship Id="rId6" Type="http://schemas.openxmlformats.org/officeDocument/2006/relationships/slide" Target="slides/slide5.xml"/>
  
  
  <Relationship Id="rId7" Type="http://schemas.openxmlformats.org/officeDocument/2006/relationships/slide" Target="slides/slide6.xml"/>
  
  
  <Relationship Id="rId8" Type="http://schemas.openxmlformats.org/officeDocument/2006/relationships/slide" Target="slides/slide7.xml"/>
  
  
  <Relationship Id="rId9" Type="http://schemas.openxmlformats.org/officeDocument/2006/relationships/slide" Target="slides/slide8.xml"/>
  
  
  <Relationship Id="rId10" Type="http://schemas.openxmlformats.org/officeDocument/2006/relationships/slide" Target="slides/slide9.xml"/>
  
  
  <Relationship Id="rId11" Type="http://schemas.openxmlformats.org/officeDocument/2006/relationships/slide" Target="slides/slide10.xml"/>
  
  
  <Relationship Id="rId12" Type="http://schemas.openxmlformats.org/officeDocument/2006/relationships/slide" Target="slides/slide11.xml"/>
  
  
  <Relationship Id="rId13" Type="http://schemas.openxmlformats.org/officeDocument/2006/relationships/slide" Target="slides/slide12.xml"/>
  
  
  <Relationship Id="rId14" Type="http://schemas.openxmlformats.org/officeDocument/2006/relationships/slide" Target="slides/slide13.xml"/>
  
  
  <Relationship Id="rId15" Type="http://schemas.openxmlformats.org/officeDocument/2006/relationships/slide" Target="slides/slide14.xml"/>
  
  
  <Relationship Id="rId16" Type="http://schemas.openxmlformats.org/officeDocument/2006/relationships/slide" Target="slides/slide15.xml"/>
  
  
  <Relationship Id="rId17" Type="http://schemas.openxmlformats.org/officeDocument/2006/relationships/slide" Target="slides/slide16.xml"/>
  
  
  <Relationship Id="rId18" Type="http://schemas.openxmlformats.org/officeDocument/2006/relationships/notesMaster" Target="notesMasters/notesMaster1.xml"/>
  
  
  <Relationship Id="rId19" Type="http://schemas.openxmlformats.org/officeDocument/2006/relationships/presProps" Target="presProps.xml"/>
  
  
  <Relationship Id="rId20" Type="http://schemas.openxmlformats.org/officeDocument/2006/relationships/viewProps" Target="viewProps.xml"/>
  
  
  <Relationship Id="rId21" Type="http://schemas.openxmlformats.org/officeDocument/2006/relationships/theme" Target="theme/theme1.xml"/>
  
  
  <Relationship Id="rId22" Type="http://schemas.openxmlformats.org/officeDocument/2006/relationships/tableStyles" Target="tableStyles.xml"/>
  
  
  <Relationship Id="rId23" Type="http://schemas.openxmlformats.org/officeDocument/2006/relationships/slide" Target="slides/slide17.xml"/>
  

  <Relationship Id="rId24" Type="http://schemas.openxmlformats.org/officeDocument/2006/relationships/slide" Target="slides/slide18.xml"/>
</Relationships>

</file>

<file path=ppt/notesMasters/_rels/notesMaster1.xml.rels><?xml version="1.0" encoding="utf-8"?>
<Relationships xmlns="http://schemas.openxmlformats.org/package/2006/relationships">
  
  
		
  
  <Relationship Id="rId1" Type="http://schemas.openxmlformats.org/officeDocument/2006/relationships/theme" Target="../theme/theme1.xml"/>
  
  
		
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1.xml"/>
  
  
		

</Relationships>

</file>

<file path=ppt/notesSlides/_rels/notesSlide2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2.xml"/>
  
  
		

</Relationships>

</file>

<file path=ppt/notesSlides/_rels/notesSlide3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3.xml"/>
  
  
		

</Relationships>

</file>

<file path=ppt/notesSlides/_rels/notesSlide4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4.xml"/>
  
  
		

</Relationships>

</file>

<file path=ppt/notesSlides/_rels/notesSlide5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5.xml"/>
  
  
		

</Relationships>

</file>

<file path=ppt/notesSlides/_rels/notesSlide6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6.xml"/>
  
  
		

</Relationships>

</file>

<file path=ppt/notesSlides/_rels/notesSlide7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7.xml"/>
  
  
		

</Relationships>

</file>

<file path=ppt/notesSlides/_rels/notesSlide8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8.xml"/>
  
  
		

</Relationships>

</file>

<file path=ppt/notesSlides/_rels/notesSlide9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9.xml"/>
  
  
		

</Relationships>

</file>

<file path=ppt/notesSlides/_rels/notesSlide10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10.xml"/>
  
  
		

</Relationships>

</file>

<file path=ppt/notesSlides/_rels/notesSlide11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11.xml"/>
  
  
		

</Relationships>

</file>

<file path=ppt/notesSlides/_rels/notesSlide12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12.xml"/>
  
  
		

</Relationships>

</file>

<file path=ppt/notesSlides/_rels/notesSlide13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13.xml"/>
  
  
		

</Relationships>

</file>

<file path=ppt/notesSlides/_rels/notesSlide14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14.xml"/>
  
  
		

</Relationships>

</file>

<file path=ppt/notesSlides/_rels/notesSlide15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15.xml"/>
  
  
		

</Relationships>

</file>

<file path=ppt/notesSlides/_rels/notesSlide16.xml.rels><?xml version="1.0" encoding="utf-8"?>
<Relationships xmlns="http://schemas.openxmlformats.org/package/2006/relationships">
  
  
			
  
  <Relationship Id="rId1" Type="http://schemas.openxmlformats.org/officeDocument/2006/relationships/notesMaster" Target="../notesMasters/notesMaster1.xml"/>
  
  
			
  
  <Relationship Id="rId2" Type="http://schemas.openxmlformats.org/officeDocument/2006/relationships/slide" Target="../slides/slide16.xml"/>
  
  
		

</Relationships>

</file>

<file path=ppt/notesSlides/_rels/notesSlide18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
<p:notes xmlns:a="http://schemas.openxmlformats.org/drawingml/2006/main" xmlns:r="http://schemas.openxmlformats.org/officeDocument/2006/relationships" xmlns:p="http://schemas.openxmlformats.org/presentationml/2006/main">
  
  
  <p:cSld>
    
    
    <p:spTree>
      
      
      <p:nvGrpSpPr>
        
        
        <p:cNvPr id="1" name=""/>
        
        
        <p:cNvGrpSpPr/>
        
        
        <p:nvPr/>
        
      
      </p:nvGrpSpPr>
      
      
      <p:grpSpPr>
        
        
        <a:xfrm>
          
          
          <a:off x="0" y="0"/>
          
          
          <a:ext cx="0" cy="0"/>
          
          
          <a:chOff x="0" y="0"/>
          
          
          <a:chExt cx="0" cy="0"/>
          
        
        </a:xfrm>
        
      
      </p:grpSpPr>
      
      
      <p:sp>
        
        
        <p:nvSpPr>
          
          
          <p:cNvPr id="2" name="Slide Image Placeholder 1"/>
          
          
          <p:cNvSpPr>
            
            
            <a:spLocks noGrp="1" noRot="1" noChangeAspect="1"/>
            
          
          </p:cNvSpPr>
          
          
          <p:nvPr>
            
            
            <p:ph type="sldImg"/>
            
          
          </p:nvPr>
          
        
        </p:nvSpPr>
        
        
        <p:spPr/>
        
      
      </p:sp>
      
      
      <p:sp>
        
        
        <p:nvSpPr>
          
          
          <p:cNvPr id="3" name="Notes Placeholder 2"/>
          
          
          <p:cNvSpPr>
            
            
            <a:spLocks noGrp="1"/>
            
          
          </p:cNvSpPr>
          
          
          <p:nvPr>
            
            
            <p:ph type="body" idx="1"/>
            
          
          </p:nvPr>
          
        
        </p:nvSpPr>
        
        
        <p:spPr/>
        
        
        <p:txBody>
          
          
          <a:bodyPr/>
          
          
          <a:lstStyle/>
          
          
          <a:p>
            <a:r>
              <a:rPr lang="en-US" dirty="0"/>
              <a:t>Video narration (~75 sec)</a:t>
            </a:r>
            <a:endParaRPr lang="en-US" dirty="0"/>
          </a:p>
          <a:p>
            <a:r>
              <a:rPr lang="en-US" dirty="0"/>
              <a:t></a:t>
            </a:r>
            <a:endParaRPr lang="en-US" dirty="0"/>
          </a:p>
          <a:p>
            <a:r>
              <a:rPr lang="en-US" dirty="0"/>
              <a:t>Having walked through the full stack, we close with Conclusion & Future.</a:t>
            </a:r>
            <a:endParaRPr lang="en-US" dirty="0"/>
          </a:p>
          <a:p>
            <a:r>
              <a:rPr lang="en-US" dirty="0"/>
              <a:t></a:t>
            </a:r>
            <a:endParaRPr lang="en-US" dirty="0"/>
          </a:p>
          <a:p>
            <a:r>
              <a:rPr lang="en-US" dirty="0"/>
              <a:t>On conclusion: X-Market is not "another prediction market." It upgrades prediction from Yes/No gambling to PDF probability derivatives. Trading and SuiProphet share one EventRoot and one Oracle — bets, unlocks, and settlement point to a single truth for each event. On-chain PDF pricing plus Seal-mandated audit creates a sustainable ecosystem for traders, LPs, prophets, and the protocol. Testnet v2 is live end-to-end — this is validated product, not a concept.</a:t>
            </a:r>
            <a:endParaRPr lang="en-US" dirty="0"/>
          </a:p>
          <a:p>
            <a:r>
              <a:rPr lang="en-US" dirty="0"/>
              <a:t></a:t>
            </a:r>
            <a:endParaRPr lang="en-US" dirty="0"/>
          </a:p>
          <a:p>
            <a:r>
              <a:rPr lang="en-US" dirty="0"/>
              <a:t>On the near term: Phase 3 wraps Variance Swap and Slash governance, plus the ZK Attestation cold path from mock to live — Brevis Prover registers proof_hash with a 3600s challenge window, never blocking the buy_* hot path. On PDF: Beta distribution for vote share, dual-pool joint probability, and more vertical markets in parallel. External audit then Mainnet; Circle USDC mainnet settlement lands together. GeoBlock is frontend-only IP-based web access restriction for compliance — not KYC, and it does not block direct on-chain interaction.</a:t>
            </a:r>
            <a:endParaRPr lang="en-US" dirty="0"/>
          </a:p>
          <a:p>
            <a:r>
              <a:rPr lang="en-US" dirty="0"/>
              <a:t></a:t>
            </a:r>
            <a:endParaRPr lang="en-US" dirty="0"/>
          </a:p>
          <a:p>
            <a:r>
              <a:rPr lang="en-US" dirty="0"/>
              <a:t>Long term: become Sui's infrastructure layer for probability derivatives and on-chain paid knowledge — serving retail, LPs, professional prophets, and quant firms. Full EventRoot migration and open SDK / Quant API. Replace fragmented Yes/No with on-chain PDF; replace fake signal-selling with forced audit. That's the endgame.</a:t>
            </a:r>
            <a:endParaRPr lang="en-US" dirty="0"/>
          </a:p>
          <a:p>
            <a:r>
              <a:rPr lang="en-US" dirty="0"/>
              <a:t></a:t>
            </a:r>
            <a:endParaRPr lang="en-US" dirty="0"/>
          </a:p>
          <a:p>
            <a:r>
              <a:rPr lang="en-US" dirty="0"/>
              <a:t>Transition: advance to Thank You — open Q&A.</a:t>
            </a:r>
            <a:endParaRPr lang="en-US" dirty="0"/>
          </a:p>
          
        
        </p:txBody>
        
      
      </p:sp>
      
      
      <p:sp>
        
        
        <p:nvSpPr>
          
          
          <p:cNvPr id="4" name="Slide Number Placeholder 3"/>
          
          
          <p:cNvSpPr>
            
            
            <a:spLocks noGrp="1"/>
            
          
          </p:cNvSpPr>
          
          
          <p:nvPr>
            
            
            <p:ph type="sldNum" sz="quarter" idx="10"/>
            
          
          </p:nvPr>
          
        
        </p:nvSpPr>
        
        
        <p:spPr/>
        
        
        <p:txBody>
          
          
          <a:bodyPr/>
          
          
          <a:lstStyle/>
          
          
          <a:p>
            
            
            <a:fld id="{F7021451-1387-4CA6-816F-3879F97B5CBC}" type="slidenum">
              
              
              <a:rPr lang="en-US"/>
              
              
              <a:t>17</a:t>
              
            
            </a:fld>
            
            
            <a:endParaRPr lang="en-US"/>
            
          
          </a:p>
          
        
        </p:txBody>
        
      
      </p:sp>
      
    
    </p:spTree>
    
    
    <p:extLst>
      
      
      <p:ext uri="{BB962C8B-B14F-4D97-AF65-F5344CB8AC3E}">
        
        
        <p14:creationId xmlns:p14="http://schemas.microsoft.com/office/powerpoint/2010/main" val="1024086991"/>
        
      
      </p:ext>
      
    
    </p:extLst>
    
  
  </p:cSld>
  
  
  <p:clrMapOvr>
    
    
    <a:masterClrMapping/>
    
  
  </p:clrMapOvr>
  

</p:notes>

</file>

<file path=ppt/slideLayouts/_rels/slideLayout1.xml.rels><?xml version="1.0" encoding="utf-8"?>
<Relationships xmlns="http://schemas.openxmlformats.org/package/2006/relationships">
  
  
  <Relationship Id="rId1" Type="http://schemas.openxmlformats.org/officeDocument/2006/relationships/slideMaster" Target="../slideMasters/slideMaster1.xml"/>
  
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theme" Target="../theme/theme1.xml"/>
  
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1.xml"/>
  

</Relationships>

</file>

<file path=ppt/slides/_rels/slide2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2.xml"/>
  

</Relationships>

</file>

<file path=ppt/slides/_rels/slide3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3.xml"/>
  

</Relationships>

</file>

<file path=ppt/slides/_rels/slide4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4.xml"/>
  

</Relationships>

</file>

<file path=ppt/slides/_rels/slide5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5.xml"/>
  

</Relationships>

</file>

<file path=ppt/slides/_rels/slide6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6.xml"/>
  

</Relationships>

</file>

<file path=ppt/slides/_rels/slide7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7.xml"/>
  

</Relationships>

</file>

<file path=ppt/slides/_rels/slide8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8.xml"/>
  

</Relationships>

</file>

<file path=ppt/slides/_rels/slide9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9.xml"/>
  

</Relationships>

</file>

<file path=ppt/slides/_rels/slide10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10.xml"/>
  

</Relationships>

</file>

<file path=ppt/slides/_rels/slide11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11.xml"/>
  

</Relationships>

</file>

<file path=ppt/slides/_rels/slide12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12.xml"/>
  

</Relationships>

</file>

<file path=ppt/slides/_rels/slide13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13.xml"/>
  

</Relationships>

</file>

<file path=ppt/slides/_rels/slide14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14.xml"/>
  

</Relationships>

</file>

<file path=ppt/slides/_rels/slide15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15.xml"/>
  

</Relationships>

</file>

<file path=ppt/slides/_rels/slide16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  
  <Relationship Id="rId2" Type="http://schemas.openxmlformats.org/officeDocument/2006/relationships/notesSlide" Target="../notesSlides/notesSlide16.xml"/>
  

</Relationships>

</file>

<file path=ppt/slides/_rels/slide17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

</Relationships>

</file>

<file path=ppt/slides/_rels/slide18.xml.rels><?xml version="1.0" encoding="utf-8"?>
<Relationships xmlns="http://schemas.openxmlformats.org/package/2006/relationships">
  
  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43400"/>
            <a:ext cx="9144000" cy="77724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109728" cy="2194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X-Market on Sui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Distribution Derivatives · A New Paradigm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Yes/No gambling to PDF-priced financial derivatives — trading &amp; knowledge monetization unified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· Testnet v2 Live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Pain Points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flaws in traditional prediction markets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fragmentation — can't express continuous probability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 tokens split CPI, goal counts, vote shares into fragmented pools with thin liquidity; institutions can't hedge interval risk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23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Unaudited signal-selling — KOL track records are forgeable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Web2/Web3 copy-trading lacks tamper-proof on-chain records; paid unlocks can't be verified post-hoc, eroding subscriber trust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market-making — whales get limited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904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sportsbooks are house vs. retail; quant funds and institutions face limits/bans — no true on-chain liquidity pool exists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settlement — trading &amp; insights data silos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047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outcomes and paid analysis use different data sources; multi-dimensional event value can't aggregate on one root node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insight: prediction markets must evolve from 'outcome gambling' to 'probability distribution derivatives' — trade direction, intervals, volatility &amp; structured risk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growth vectors &amp; X-Market positioning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6974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533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Derivatives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derivatives TAM (2026)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880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AMM serves institutional hedging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Normal/Poisson/Dirichlet for macro·sports·elections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Swap &amp; structured products in Phase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34440"/>
            <a:ext cx="26974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533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Knowledge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$300B+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paid content market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2880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SuiProphet on-chain score filters real KOLs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encryption + forced post-hoc public audit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instant unlock · knowledge asset tokenization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234440"/>
            <a:ext cx="269748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3533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Growth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etc. validated PMF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880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native USDC reduces friction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Auction cold-start without external LP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parallel execution for concurrent markets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X-Market owns the 'probability derivatives + paid knowledge' dual-module synergy — same EventRoot binds trading &amp; insights, no data fragmentation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Four-sided ecosystem win-win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64592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188720"/>
            <a:ext cx="6629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298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probability curves, not fragment tokens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0" y="1298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Interval/digital options · structured notes · Max-Loss risk control · transparent PDF pricing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1645920" cy="9601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Underwriters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48840" y="2331720"/>
            <a:ext cx="6629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441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spread + Theta + mispricing principal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441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deposit/redeem · Opening Auction endogenous liquidity · LP Guard dynamic fee protection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1645920" cy="9601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48840" y="3474720"/>
            <a:ext cx="6629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584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win-rate cred + unlock revenue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3584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private analysis · on-chain track record · paid unlock after on-chain eligibility check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1645920" cy="9601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92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8840" y="4617720"/>
            <a:ext cx="6629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472744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fees + trading fees + network effects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4727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auto-settlement · leaderboard-driven traffic · parallel multi-market scaling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modules on shared EventRoot · unified Oracle settlement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73152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X-Market Trading Module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AMM: trades update μ/σ/λ/α, PDF refreshes in real 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football · Dirichlet elections · Normal macro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Auction → Trading → Oracle settlement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native USDC Vault + Max-Loss constraint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SuiProphet Paid Knowledge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Seal-encrypted private prophecies · paid_buyers instant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public disclosure post lock_time · on-chain audit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Score leaderboard filters real KOLs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Oracle resolved_value with trading module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2468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566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Oracle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→ Dispute → Committee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91840" y="3429000"/>
            <a:ext cx="2468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566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EventRoot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event · same lock_time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0644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26480" y="3429000"/>
            <a:ext cx="2468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3566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Dual Modules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 trading + paid insights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Differentiation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Parametric AMM vs traditional binary markets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Yes/No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X-Market Parametric AMM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Discrete outcome tokens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Probability density function PDF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Liquidity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pool per outcome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Vault + parameter adjustment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 types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bets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Interval · Digital · Call/Put · Variance Swap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Cold start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on external 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 Auction endogenous pricing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access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Limits / bans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Transparent pool + quant arbitrage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ecosystem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on-chain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SuiProphet forced post-hoc disclosure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79476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9044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Math Engine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233672"/>
            <a:ext cx="8092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Q32.32 fixed-point · exp/erf LUT lookup · Tier 1 atomic param update + probability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is source of truth · Pricing Engine preview only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parallel architecture + on-chain atomic compute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Parallel Execution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Sharded by event_id, parallel settlement across markets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Position/Prophecy as independent Objects, no global lock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concurrency for multi-pool + multi-prophet scenarios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Atomic Compute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param update + probability in single PTB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Oracle-signed pricing updates, eliminates latency arb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 lookup reduces exp/erf Gas cost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Async Enhancement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Crush / IV / Vol Smile computed off-chain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index + REST API millisecond queries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block on-chain settlement path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Multi-Platform Pricing Bridge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+ Rust pricing bridge for local preview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math-spec, WYSIWYG quotes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invalid on-chain transaction submissions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risk control · on-chain verifiable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Max-Loss Boundary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buy_* checks worst-case payout ≤ Vault on-chain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Slippage Reject forcibly rejects insolvency trades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risk.move full path coverage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Guard Dynamic Defense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Keeper monitors param drift + skewness + volume 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fee up to 800 bps at max risk score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sigma_virtual / resolution_window time lock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Committee Finality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propose + dispute + multi-sig committee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admin unilateral · stake-based game theory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forbidden from AMM pricing params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Privacy + Slash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OR policy: paid instant / post-expiry public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governance timelock + multi-sig execution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attestation cold path: 3600s challenge window + delayed finalize (non-blocking)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finality · state machine · ops infrastructure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Settlement Truth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macro_oracle + oracle_arbitrator single source for all products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DataFeed → trading claim + Prophet audit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auto-register, no hardcoded frontend env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State Machine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Auction → Trading → Settled strict transitions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resolution_window blocks buy_* near expiry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 emergency halt + drill documentation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Service Matrix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Guard · Oracle Relayer · Walrus Relay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Audit Keeper · Chain Monitor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orchestration + health check scripts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Readiness System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mainnet-readiness-checklist executable steps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params sign-off + emergency drill templates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move test full module coverage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 · native stablecoin · multi-platform UX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USDC Experience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native USDC, not custom test tokens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Buy/unlock/payout all in stablecoin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cognitive barrier, focus on trading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Preview &amp; Guidance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Engine off-chain quote preview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TradePanel real-time win rate &amp; ROI estimate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invalid on-chain submissions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 Dual Platform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+ @mysten/dapp-kit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mobile + Rust pricing preview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/markets · /lp · /positions · /prophet · /leaderboard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Docs &amp; FAQ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faq-public pitch-ready Q&amp;A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demo-walkthrough end-to-end demo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playbooks for staged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revenue &amp; ecosystem flywheel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97480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Fees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 spread + fee_multiplier protocol share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9748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325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Fees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801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SuiProphet private prophecy commission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9748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25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Premium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801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Auction + NAV management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68880"/>
            <a:ext cx="73152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78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Flywheel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907792"/>
            <a:ext cx="3703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High-turnover pools → LP spread income → more LP deposits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prophet records → leaderboard trust → unlock growth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Credible Oracle settlement → institutional quant access → deeper pools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modules on EventRoot → cross-module traffic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68880"/>
            <a:ext cx="73152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578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Moat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2907792"/>
            <a:ext cx="3703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pricing: institutional derivatives vs retail gambling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object model: Position NFT transferable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+ forced audit: paid knowledge trust loop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v2 full-stack validated, not concept-only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Validation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v2 delivered capabilities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65960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on-chain 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96596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801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templates live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6596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801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 microservices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234440"/>
            <a:ext cx="1965960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12280" y="1801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v2 deployed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841248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Delivered 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 / Dirichlet / Normal + interval/digital options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 Auction → Trading → Oracle settlement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Vault + Max-Loss constraint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 Guard dynamic fees + NAV deposit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SuiProphet Seal commit + leaderboard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Indexer PostgreSQL + REST 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Flutter Mobile + Rust Pricing Bridge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· Ecosystem · Mainnet · Scale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Depth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derivatives: Variance Swap · Structured/Range/Barrier Note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distribution for vote share [0,100] · dual-pool joint probability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secondary transfer · more verticals (macro/sports/elections)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Engine SDK for quant institutional access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1353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SuiProphet Ecosystem Growth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≥100 registered prophets · ≥$50K/mo unlock GMV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+ subscriber ROI aggregation (Indexer enhancement)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plaintext cache · forced public audit post lock_time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USDC stablecoin UX · Web + Mobile dual-platform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&amp; Compliance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security audit completion · governance multisig + Slash timelock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USDC Mainnet · GeoBlock compliance framework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mainnet-readiness drill documentation (Slash/ZK/settlement)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DVM optional arbitration adapter (coexists with built-in committee)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24612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Institutional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7490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EventRoot wrap migration (no hard fork) · Indexer EventRoot index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Brevis off-chain supervision (optional): maps proof_hash; on-chain remains attestation + challenge window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Guard Keeper production · Chain Monitor alerting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AUM target ≥$5M · Flutter mainnet dual-platform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1–4 progress &amp; Mainnet path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96596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distributions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Interval/digital options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Max-Loss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Vault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96596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1.5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Auction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Token + NAV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pricing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17720" y="1234440"/>
            <a:ext cx="196596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210312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options · Straddle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Guard dynamic fees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redeem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panel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6596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Closing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210312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Swap + structured notes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governance · ZK cold-path attestation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dist · UMA DVM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audit → Mainnet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915400" y="1234440"/>
            <a:ext cx="196596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15400" y="1371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15400" y="1737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Scaling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06840" y="210312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EventRoot full migration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Audit Keeper auto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ROI · GMV metrics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/ Quant API open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joint PDF model: deferred 6–12 months post-mainnet; prioritize Tier 1 + structured notes + SuiProphet ecosystem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&amp; KPIs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growth targets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 markets / WAU / TVL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≥3 pools · ≥500 traders · ≥$500K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SDK / quant integration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≥3 institutions or SDK integrations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AUM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$5M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Prophets / unlock GMV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· ≥$50K/month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Mainnet+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coverage / settlement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Multi-vertical parallel · zero Oracle SPOF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4612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246120"/>
            <a:ext cx="73152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355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Vision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685032"/>
            <a:ext cx="8092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Sui's infrastructure layer for probability distribution derivatives + on-chain paid knowledge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traders, LP underwriters, professional prophets, and quant institutions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fragmented Yes/No with on-chain PDF pricing; replace fake signal-selling with forced audit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55448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X-Market = Probability distribution derivatives + on-chain paid 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Testnet validated · Clear Mainnet &amp; scaling path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x-market-sui · PRD.md · testnet.suivision.xyz · BSL 1.1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gaps blocking prediction markets from real financial infrastructure · ~30–60 sec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fragmentation — can't express continuous probability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 tokens can't price CPI ranges, vote shares, or goal counts — institutions can't hedge interval risk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23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Unaudited signal-selling — KOL track records are forgeable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KOL track records are forgeable — subscribers can't verify signals after the fact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settlement — trading &amp; insights lack one truth source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904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outcomes and paid analysis use different Oracles — one event can't aggregate on a single root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73152" cy="914400"/>
          </a:xfrm>
          <a:prstGeom prst="rect">
            <a:avLst/>
          </a:prstGeom>
          <a:solidFill>
            <a:srgbClr val="F96167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047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hook: prediction markets must evolve from outcome gambling to probability distribution derivatives — X-Market rebuilds this on Sui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
<p:sld xmlns:a="http://schemas.openxmlformats.org/drawingml/2006/main" xmlns:r="http://schemas.openxmlformats.org/officeDocument/2006/relationships" xmlns:p="http://schemas.openxmlformats.org/presentationml/2006/main">
  
  
  <p:cSld name="Slide 13">
    
    
    <p:bg>
      
      
      <p:bgPr>
        
        
        <a:solidFill>
          
          
          <a:srgbClr val="F0F7FA"/>
          
        
        </a:solidFill>
        
      
      </p:bgPr>
      
    
    </p:bg>
    
    
    <p:spTree>
      
      
      <p:nvGrpSpPr>
        
        
        <p:cNvPr id="1" name=""/>
        
        
        <p:cNvGrpSpPr/>
        
        
        <p:nvPr/>
        
      
      </p:nvGrpSpPr>
      
      
      <p:grpSpPr>
        
        
        <a:xfrm>
          
          
          <a:off x="0" y="0"/>
          
          
          <a:ext cx="0" cy="0"/>
          
          
          <a:chOff x="0" y="0"/>
          
          
          <a:chExt cx="0" cy="0"/>
          
        
        </a:xfrm>
        
      
      </p:grpSpPr>
      
      
      <p:sp>
        
        
        <p:nvSpPr>
          
          
          <p:cNvPr id="2" name="Shape 0"/>
          
          
          <p:cNvSpPr/>
          
          
          <p:nvPr/>
          
        
        </p:nvSpPr>
        
        
        <p:spPr>
          
          
          <a:xfrm>
            
            
            <a:off x="0" y="0"/>
            
            
            <a:ext cx="9144000" cy="960120"/>
            
          
          </a:xfrm>
          
          
          <a:prstGeom prst="rect">
            
            
            <a:avLst/>
            
          
          </a:prstGeom>
          
          
          <a:solidFill>
            
            
            <a:srgbClr val="065A82"/>
            
          
          </a:solidFill>
          
          
          <a:ln/>
          
        
        </p:spPr>
        
      
      </p:sp>
      
      
      <p:sp>
        
        
        <p:nvSpPr>
          
          
          <p:cNvPr id="3" name="Shape 1"/>
          
          
          <p:cNvSpPr/>
          
          
          <p:nvPr/>
          
        
        </p:nvSpPr>
        
        
        <p:spPr>
          
          
          <a:xfrm>
            
            
            <a:off x="0" y="960120"/>
            
            
            <a:ext cx="9144000" cy="54864"/>
            
          
          </a:xfrm>
          
          
          <a:prstGeom prst="rect">
            
            
            <a:avLst/>
            
          
          </a:prstGeom>
          
          
          <a:solidFill>
            
            
            <a:srgbClr val="02C39A"/>
            
          
          </a:solidFill>
          
          
          <a:ln/>
          
        
        </p:spPr>
        
      
      </p:sp>
      
      
      <p:sp>
        
        
        <p:nvSpPr>
          
          
          <p:cNvPr id="4" name="Text 2"/>
          
          
          <p:cNvSpPr/>
          
          
          <p:nvPr/>
          
        
        </p:nvSpPr>
        
        
        <p:spPr>
          
          
          <a:xfrm>
            
            
            <a:off x="457200" y="164592"/>
            
            
            <a:ext cx="8229600" cy="50292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indent="0" marL="0">
              
              
              <a:buNone/>
              
            
            </a:pPr>
            
            
            <a:r>
              
              
              <a:rPr lang="en-US" sz="2800" b="1" dirty="0">
                
                
                <a:solidFill>
                  
                  
                  <a:srgbClr val="FFFFFF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Conclusion & Future</a:t>
              
            
            </a:r>
            
            
            <a:endParaRPr lang="en-US" sz="2800" dirty="0"/>
            
          
          </a:p>
          
        
        </p:txBody>
        
      
      </p:sp>
      
      
      <p:sp>
        
        
        <p:nvSpPr>
          
          
          <p:cNvPr id="5" name="Text 3"/>
          
          
          <p:cNvSpPr/>
          
          
          <p:nvPr/>
          
        
        </p:nvSpPr>
        
        
        <p:spPr>
          
          
          <a:xfrm>
            
            
            <a:off x="457200" y="621792"/>
            
            
            <a:ext cx="8229600" cy="27432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indent="0" marL="0">
              
              
              <a:buNone/>
              
            
            </a:pPr>
            
            
            <a:r>
              
              
              <a:rPr lang="en-US" sz="1200" dirty="0">
                
                
                <a:solidFill>
                  
                  
                  <a:srgbClr val="CADCFC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From Testnet validation to mainnet infrastructure · ~60–90 sec</a:t>
              
            
            </a:r>
            
            
            <a:endParaRPr lang="en-US" sz="1200" dirty="0"/>
            
          
          </a:p>
          
        
        </p:txBody>
        
      
      </p:sp>
      
      
      <p:sp>
        
        
        <p:nvSpPr>
          
          
          <p:cNvPr id="6" name="Shape 4"/>
          
          
          <p:cNvSpPr/>
          
          
          <p:nvPr/>
          
        
        </p:nvSpPr>
        
        
        <p:spPr>
          
          
          <a:xfrm>
            
            
            <a:off x="365760" y="1188720"/>
            
            
            <a:ext cx="4023360" cy="1691640"/>
            
          
          </a:xfrm>
          
          
          <a:prstGeom prst="rect">
            
            
            <a:avLst/>
            
          
          </a:prstGeom>
          
          
          <a:solidFill>
            
            
            <a:srgbClr val="FFFFFF"/>
            
          
          </a:solidFill>
          
          
          <a:ln w="12700">
            
            
            <a:solidFill>
              
              
              <a:srgbClr val="E2E8F0"/>
              
            
            </a:solidFill>
            
            
            <a:prstDash val="solid"/>
            
          
          </a:ln>
          
          
          <a:effectLst>
            
             
            
            <a:outerShdw sx="100000" sy="100000" kx="0" ky="0" algn="bl" rotWithShape="0" blurRad="50800" dist="25400" dir="8100000">
              
               
              
              <a:srgbClr val="000000">
                
                 
                
                <a:alpha val="12000"/>
                
              
              </a:srgbClr>
              
               
            
            </a:outerShdw>
            
          
          </a:effectLst>
          
        
        </p:spPr>
        
      
      </p:sp>
      
      
      <p:sp>
        
        
        <p:nvSpPr>
          
          
          <p:cNvPr id="7" name="Shape 5"/>
          
          
          <p:cNvSpPr/>
          
          
          <p:nvPr/>
          
        
        </p:nvSpPr>
        
        
        <p:spPr>
          
          
          <a:xfrm>
            
            
            <a:off x="548640" y="1371600"/>
            
            
            <a:ext cx="502920" cy="502920"/>
            
          
          </a:xfrm>
          
          
          <a:prstGeom prst="ellipse">
            
            
            <a:avLst/>
            
          
          </a:prstGeom>
          
          
          <a:solidFill>
            
            
            <a:srgbClr val="02C39A"/>
            
          
          </a:solidFill>
          
          
          <a:ln/>
          
        
        </p:spPr>
        
      
      </p:sp>
      
      
      <p:sp>
        
        
        <p:nvSpPr>
          
          
          <p:cNvPr id="8" name="Text 6"/>
          
          
          <p:cNvSpPr/>
          
          
          <p:nvPr/>
          
        
        </p:nvSpPr>
        
        
        <p:spPr>
          
          
          <a:xfrm>
            
            
            <a:off x="548640" y="1371600"/>
            
            
            <a:ext cx="502920" cy="50292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algn="ctr" indent="0" marL="0">
              
              
              <a:buNone/>
              
            
            </a:pPr>
            
            
            <a:r>
              
              
              <a:rPr lang="en-US" sz="1600" dirty="0">
                
                
                <a:solidFill>
                  
                  
                  <a:srgbClr val="000000"/>
                  
                
                </a:solidFill>
                
              
              </a:rPr>
              
              
              <a:t>✅</a:t>
              
            
            </a:r>
            
            
            <a:endParaRPr lang="en-US" sz="1600" dirty="0"/>
            
          
          </a:p>
          
        
        </p:txBody>
        
      
      </p:sp>
      
      
      <p:sp>
        
        
        <p:nvSpPr>
          
          
          <p:cNvPr id="9" name="Text 7"/>
          
          
          <p:cNvSpPr/>
          
          
          <p:nvPr/>
          
        
        </p:nvSpPr>
        
        
        <p:spPr>
          
          
          <a:xfrm>
            
            
            <a:off x="1143000" y="1353312"/>
            
            
            <a:ext cx="3108960" cy="36576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indent="0" marL="0">
              
              
              <a:buNone/>
              
            
            </a:pPr>
            
            
            <a:r>
              
              
              <a:rPr lang="en-US" sz="1400" b="1" dirty="0">
                
                
                <a:solidFill>
                  
                  
                  <a:srgbClr val="065A82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Core Conclusions</a:t>
              
            
            </a:r>
            
            
            <a:endParaRPr lang="en-US" sz="1400" dirty="0"/>
            
          
          </a:p>
          
        
        </p:txBody>
        
      
      </p:sp>
      
      
      <p:sp>
        
        
        <p:nvSpPr>
          
          
          <p:cNvPr id="10" name="Text 8"/>
          
          
          <p:cNvSpPr/>
          
          
          <p:nvPr/>
          
        
        </p:nvSpPr>
        
        
        <p:spPr>
          
          
          <a:xfrm>
            
            
            <a:off x="548640" y="1874520"/>
            
            
            <a:ext cx="3657600" cy="91440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rtlCol="0" anchor="t"/>
          
          
          <a:lstStyle/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Prediction markets must evolve from gambling to PDF probability derivatives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Dual modules share EventRoot · unified Oracle settlement truth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On-chain PDF pricing + Seal forced audit · four-sided win-win ecosystem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Testnet v2 full stack validated — not a concept</a:t>
              
            
            </a:r>
            
            
            <a:endParaRPr lang="en-US" sz="1000" dirty="0"/>
            
          
          </a:p>
          
        
        </p:txBody>
        
      
      </p:sp>
      
      
      <p:sp>
        
        
        <p:nvSpPr>
          
          
          <p:cNvPr id="11" name="Shape 9"/>
          
          
          <p:cNvSpPr/>
          
          
          <p:nvPr/>
          
        
        </p:nvSpPr>
        
        
        <p:spPr>
          
          
          <a:xfrm>
            
            
            <a:off x="4754880" y="1188720"/>
            
            
            <a:ext cx="4023360" cy="1691640"/>
            
          
          </a:xfrm>
          
          
          <a:prstGeom prst="rect">
            
            
            <a:avLst/>
            
          
          </a:prstGeom>
          
          
          <a:solidFill>
            
            
            <a:srgbClr val="FFFFFF"/>
            
          
          </a:solidFill>
          
          
          <a:ln w="12700">
            
            
            <a:solidFill>
              
              
              <a:srgbClr val="E2E8F0"/>
              
            
            </a:solidFill>
            
            
            <a:prstDash val="solid"/>
            
          
          </a:ln>
          
          
          <a:effectLst>
            
             
            
            <a:outerShdw sx="100000" sy="100000" kx="0" ky="0" algn="bl" rotWithShape="0" blurRad="50800" dist="25400" dir="8100000">
              
               
              
              <a:srgbClr val="000000">
                
                 
                
                <a:alpha val="12000"/>
                
              
              </a:srgbClr>
              
               
            
            </a:outerShdw>
            
          
          </a:effectLst>
          
        
        </p:spPr>
        
      
      </p:sp>
      
      
      <p:sp>
        
        
        <p:nvSpPr>
          
          
          <p:cNvPr id="12" name="Shape 10"/>
          
          
          <p:cNvSpPr/>
          
          
          <p:nvPr/>
          
        
        </p:nvSpPr>
        
        
        <p:spPr>
          
          
          <a:xfrm>
            
            
            <a:off x="4937760" y="1371600"/>
            
            
            <a:ext cx="502920" cy="502920"/>
            
          
          </a:xfrm>
          
          
          <a:prstGeom prst="ellipse">
            
            
            <a:avLst/>
            
          
          </a:prstGeom>
          
          
          <a:solidFill>
            
            
            <a:srgbClr val="1C7293"/>
            
          
          </a:solidFill>
          
          
          <a:ln/>
          
        
        </p:spPr>
        
      
      </p:sp>
      
      
      <p:sp>
        
        
        <p:nvSpPr>
          
          
          <p:cNvPr id="13" name="Text 11"/>
          
          
          <p:cNvSpPr/>
          
          
          <p:nvPr/>
          
        
        </p:nvSpPr>
        
        
        <p:spPr>
          
          
          <a:xfrm>
            
            
            <a:off x="4937760" y="1371600"/>
            
            
            <a:ext cx="502920" cy="50292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algn="ctr" indent="0" marL="0">
              
              
              <a:buNone/>
              
            
            </a:pPr>
            
            
            <a:r>
              
              
              <a:rPr lang="en-US" sz="1600" dirty="0">
                
                
                <a:solidFill>
                  
                  
                  <a:srgbClr val="000000"/>
                  
                
                </a:solidFill>
                
              
              </a:rPr>
              
              
              <a:t>🔬</a:t>
              
            
            </a:r>
            
            
            <a:endParaRPr lang="en-US" sz="1600" dirty="0"/>
            
          
          </a:p>
          
        
        </p:txBody>
        
      
      </p:sp>
      
      
      <p:sp>
        
        
        <p:nvSpPr>
          
          
          <p:cNvPr id="14" name="Text 12"/>
          
          
          <p:cNvSpPr/>
          
          
          <p:nvPr/>
          
        
        </p:nvSpPr>
        
        
        <p:spPr>
          
          
          <a:xfrm>
            
            
            <a:off x="5532120" y="1353312"/>
            
            
            <a:ext cx="3108960" cy="36576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indent="0" marL="0">
              
              
              <a:buNone/>
              
            
            </a:pPr>
            
            
            <a:r>
              
              
              <a:rPr lang="en-US" sz="1400" b="1" dirty="0">
                
                
                <a:solidFill>
                  
                  
                  <a:srgbClr val="065A82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Validated Capabilities</a:t>
              
            
            </a:r>
            
            
            <a:endParaRPr lang="en-US" sz="1400" dirty="0"/>
            
          
          </a:p>
          
        
        </p:txBody>
        
      
      </p:sp>
      
      
      <p:sp>
        
        
        <p:nvSpPr>
          
          
          <p:cNvPr id="15" name="Text 13"/>
          
          
          <p:cNvSpPr/>
          
          
          <p:nvPr/>
          
        
        </p:nvSpPr>
        
        
        <p:spPr>
          
          
          <a:xfrm>
            
            
            <a:off x="4937760" y="1874520"/>
            
            
            <a:ext cx="3657600" cy="91440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rtlCol="0" anchor="t"/>
          
          
          <a:lstStyle/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30+ Move modules · three distribution templates deployed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Opening Auction cold start · Max-Loss full-path coverage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SuiProphet + Indexer + Flutter end-to-end integrated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9+ off-chain microservices · Docker orchestration production-ready</a:t>
              
            
            </a:r>
            
            
            <a:endParaRPr lang="en-US" sz="1000" dirty="0"/>
            
          
          </a:p>
          
        
        </p:txBody>
        
      
      </p:sp>
      
      
      <p:sp>
        
        
        <p:nvSpPr>
          
          
          <p:cNvPr id="16" name="Shape 14"/>
          
          
          <p:cNvSpPr/>
          
          
          <p:nvPr/>
          
        
        </p:nvSpPr>
        
        
        <p:spPr>
          
          
          <a:xfrm>
            
            
            <a:off x="365760" y="3063240"/>
            
            
            <a:ext cx="4023360" cy="1691640"/>
            
          
          </a:xfrm>
          
          
          <a:prstGeom prst="rect">
            
            
            <a:avLst/>
            
          
          </a:prstGeom>
          
          
          <a:solidFill>
            
            
            <a:srgbClr val="FFFFFF"/>
            
          
          </a:solidFill>
          
          
          <a:ln w="12700">
            
            
            <a:solidFill>
              
              
              <a:srgbClr val="E2E8F0"/>
              
            
            </a:solidFill>
            
            
            <a:prstDash val="solid"/>
            
          
          </a:ln>
          
          
          <a:effectLst>
            
             
            
            <a:outerShdw sx="100000" sy="100000" kx="0" ky="0" algn="bl" rotWithShape="0" blurRad="50800" dist="25400" dir="8100000">
              
               
              
              <a:srgbClr val="000000">
                
                 
                
                <a:alpha val="12000"/>
                
              
              </a:srgbClr>
              
               
            
            </a:outerShdw>
            
          
          </a:effectLst>
          
        
        </p:spPr>
        
      
      </p:sp>
      
      
      <p:sp>
        
        
        <p:nvSpPr>
          
          
          <p:cNvPr id="17" name="Shape 15"/>
          
          
          <p:cNvSpPr/>
          
          
          <p:nvPr/>
          
        
        </p:nvSpPr>
        
        
        <p:spPr>
          
          
          <a:xfrm>
            
            
            <a:off x="548640" y="3246120"/>
            
            
            <a:ext cx="502920" cy="502920"/>
            
          
          </a:xfrm>
          
          
          <a:prstGeom prst="ellipse">
            
            
            <a:avLst/>
            
          
          </a:prstGeom>
          
          
          <a:solidFill>
            
            
            <a:srgbClr val="065A82"/>
            
          
          </a:solidFill>
          
          
          <a:ln/>
          
        
        </p:spPr>
        
      
      </p:sp>
      
      
      <p:sp>
        
        
        <p:nvSpPr>
          
          
          <p:cNvPr id="18" name="Text 16"/>
          
          
          <p:cNvSpPr/>
          
          
          <p:nvPr/>
          
        
        </p:nvSpPr>
        
        
        <p:spPr>
          
          
          <a:xfrm>
            
            
            <a:off x="548640" y="3246120"/>
            
            
            <a:ext cx="502920" cy="50292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algn="ctr" indent="0" marL="0">
              
              
              <a:buNone/>
              
            
            </a:pPr>
            
            
            <a:r>
              
              
              <a:rPr lang="en-US" sz="1600" dirty="0">
                
                
                <a:solidFill>
                  
                  
                  <a:srgbClr val="000000"/>
                  
                
                </a:solidFill>
                
              
              </a:rPr>
              
              
              <a:t>🚀</a:t>
              
            
            </a:r>
            
            
            <a:endParaRPr lang="en-US" sz="1600" dirty="0"/>
            
          
          </a:p>
          
        
        </p:txBody>
        
      
      </p:sp>
      
      
      <p:sp>
        
        
        <p:nvSpPr>
          
          
          <p:cNvPr id="19" name="Text 17"/>
          
          
          <p:cNvSpPr/>
          
          
          <p:nvPr/>
          
        
        </p:nvSpPr>
        
        
        <p:spPr>
          
          
          <a:xfrm>
            
            
            <a:off x="1143000" y="3227832"/>
            
            
            <a:ext cx="3108960" cy="36576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indent="0" marL="0">
              
              
              <a:buNone/>
              
            
            </a:pPr>
            
            
            <a:r>
              
              
              <a:rPr lang="en-US" sz="1400" b="1" dirty="0">
                
                
                <a:solidFill>
                  
                  
                  <a:srgbClr val="065A82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Near-Term Outlook</a:t>
              
            
            </a:r>
            
            
            <a:endParaRPr lang="en-US" sz="1400" dirty="0"/>
            
          
          </a:p>
          
        
        </p:txBody>
        
      
      </p:sp>
      
      
      <p:sp>
        
        
        <p:nvSpPr>
          
          
          <p:cNvPr id="20" name="Text 18"/>
          
          
          <p:cNvSpPr/>
          
          
          <p:nvPr/>
          
        
        </p:nvSpPr>
        
        
        <p:spPr>
          
          
          <a:xfrm>
            
            
            <a:off x="548640" y="3749040"/>
            
            
            <a:ext cx="3657600" cy="91440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rtlCol="0" anchor="t"/>
          
          
          <a:lstStyle/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Phase 3: Variance Swap · Slash governance · ZK cold-path completion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Beta distribution · dual-pool joint probability · more vertical PDF markets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Attestation + Brevis Prover: mock → live supervision line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External audit → Mainnet · Circle USDC · GeoBlock (frontend compliance)</a:t>
              
            
            </a:r>
            
            
            <a:endParaRPr lang="en-US" sz="1000" dirty="0"/>
            
          
          </a:p>
          
        
        </p:txBody>
        
      
      </p:sp>
      
      
      <p:sp>
        
        
        <p:nvSpPr>
          
          
          <p:cNvPr id="21" name="Shape 19"/>
          
          
          <p:cNvSpPr/>
          
          
          <p:nvPr/>
          
        
        </p:nvSpPr>
        
        
        <p:spPr>
          
          
          <a:xfrm>
            
            
            <a:off x="4754880" y="3063240"/>
            
            
            <a:ext cx="4023360" cy="1691640"/>
            
          
          </a:xfrm>
          
          
          <a:prstGeom prst="rect">
            
            
            <a:avLst/>
            
          
          </a:prstGeom>
          
          
          <a:solidFill>
            
            
            <a:srgbClr val="FFFFFF"/>
            
          
          </a:solidFill>
          
          
          <a:ln w="12700">
            
            
            <a:solidFill>
              
              
              <a:srgbClr val="E2E8F0"/>
              
            
            </a:solidFill>
            
            
            <a:prstDash val="solid"/>
            
          
          </a:ln>
          
          
          <a:effectLst>
            
             
            
            <a:outerShdw sx="100000" sy="100000" kx="0" ky="0" algn="bl" rotWithShape="0" blurRad="50800" dist="25400" dir="8100000">
              
               
              
              <a:srgbClr val="000000">
                
                 
                
                <a:alpha val="12000"/>
                
              
              </a:srgbClr>
              
               
            
            </a:outerShdw>
            
          
          </a:effectLst>
          
        
        </p:spPr>
        
      
      </p:sp>
      
      
      <p:sp>
        
        
        <p:nvSpPr>
          
          
          <p:cNvPr id="22" name="Shape 20"/>
          
          
          <p:cNvSpPr/>
          
          
          <p:nvPr/>
          
        
        </p:nvSpPr>
        
        
        <p:spPr>
          
          
          <a:xfrm>
            
            
            <a:off x="4937760" y="3246120"/>
            
            
            <a:ext cx="502920" cy="502920"/>
            
          
          </a:xfrm>
          
          
          <a:prstGeom prst="ellipse">
            
            
            <a:avLst/>
            
          
          </a:prstGeom>
          
          
          <a:solidFill>
            
            
            <a:srgbClr val="21295C"/>
            
          
          </a:solidFill>
          
          
          <a:ln/>
          
        
        </p:spPr>
        
      
      </p:sp>
      
      
      <p:sp>
        
        
        <p:nvSpPr>
          
          
          <p:cNvPr id="23" name="Text 21"/>
          
          
          <p:cNvSpPr/>
          
          
          <p:nvPr/>
          
        
        </p:nvSpPr>
        
        
        <p:spPr>
          
          
          <a:xfrm>
            
            
            <a:off x="4937760" y="3246120"/>
            
            
            <a:ext cx="502920" cy="50292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algn="ctr" indent="0" marL="0">
              
              
              <a:buNone/>
              
            
            </a:pPr>
            
            
            <a:r>
              
              
              <a:rPr lang="en-US" sz="1600" dirty="0">
                
                
                <a:solidFill>
                  
                  
                  <a:srgbClr val="000000"/>
                  
                
                </a:solidFill>
                
              
              </a:rPr>
              
              
              <a:t>🎯</a:t>
              
            
            </a:r>
            
            
            <a:endParaRPr lang="en-US" sz="1600" dirty="0"/>
            
          
          </a:p>
          
        
        </p:txBody>
        
      
      </p:sp>
      
      
      <p:sp>
        
        
        <p:nvSpPr>
          
          
          <p:cNvPr id="24" name="Text 22"/>
          
          
          <p:cNvSpPr/>
          
          
          <p:nvPr/>
          
        
        </p:nvSpPr>
        
        
        <p:spPr>
          
          
          <a:xfrm>
            
            
            <a:off x="5532120" y="3227832"/>
            
            
            <a:ext cx="3108960" cy="36576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lIns="0" tIns="0" rIns="0" bIns="0" rtlCol="0" anchor="ctr"/>
          
          
          <a:lstStyle/>
          
          
          <a:p>
            
            
            <a:pPr indent="0" marL="0">
              
              
              <a:buNone/>
              
            
            </a:pPr>
            
            
            <a:r>
              
              
              <a:rPr lang="en-US" sz="1400" b="1" dirty="0">
                
                
                <a:solidFill>
                  
                  
                  <a:srgbClr val="065A82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Long-Term Vision</a:t>
              
            
            </a:r>
            
            
            <a:endParaRPr lang="en-US" sz="1400" dirty="0"/>
            
          
          </a:p>
          
        
        </p:txBody>
        
      
      </p:sp>
      
      
      <p:sp>
        
        
        <p:nvSpPr>
          
          
          <p:cNvPr id="25" name="Text 23"/>
          
          
          <p:cNvSpPr/>
          
          
          <p:nvPr/>
          
        
        </p:nvSpPr>
        
        
        <p:spPr>
          
          
          <a:xfrm>
            
            
            <a:off x="4937760" y="3749040"/>
            
            
            <a:ext cx="3657600" cy="914400"/>
            
          
          </a:xfrm>
          
          
          <a:prstGeom prst="rect">
            
            
            <a:avLst/>
            
          
          </a:prstGeom>
          
          
          <a:noFill/>
          
          
          <a:ln/>
          
        
        </p:spPr>
        
        
        <p:txBody>
          
          
          <a:bodyPr wrap="square" rtlCol="0" anchor="t"/>
          
          
          <a:lstStyle/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Become Sui's infrastructure layer for probability derivatives + paid knowledge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Serve retail traders, LPs, prophets, and quant institutions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Full EventRoot migration · SDK / Quant API open access</a:t>
              
            
            </a:r>
            
            
            <a:endParaRPr lang="en-US" sz="1000" dirty="0"/>
            
          
          </a:p>
          
          
          <a:p>
            
            
            <a:pPr marL="342900" indent="-342900">
              
              
              <a:buSzPct val="100000"/>
              
              
              <a:buChar char="•"/>
              
            
            </a:pPr>
            
            
            <a:r>
              
              
              <a:rPr lang="en-US" sz="1000" dirty="0">
                
                
                <a:solidFill>
                  
                  
                  <a:srgbClr val="1E293B"/>
                  
                
                </a:solidFill>
                
                
                <a:latin typeface="Arial" pitchFamily="34" charset="0"/>
                
                
                <a:ea typeface="Arial" pitchFamily="34" charset="-122"/>
                
                
                <a:cs typeface="Arial" pitchFamily="34" charset="-120"/>
                
              
              </a:rPr>
              
              
              <a:t>Replace fragmented Yes/No with on-chain PDF · replace fake signals with forced audit</a:t>
              
            
            </a:r>
            
            
            <a:endParaRPr lang="en-US" sz="1000" dirty="0"/>
            
          
          </a:p>
          
        
        </p:txBody>
        
      
      </p:sp>
      
    
    </p:spTree>
    
  
  </p:cSld>
  
  
  <p:clrMapOvr>
    
    
    <a:masterClrMapping/>
    
  
  </p:clrMapOvr>
  

</p:sld>
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X-Market on Sui</dc:title>
  <dc:subject>Probability Distribution Derivatives · A New Paradigm</dc:subject>
  <dc:creator>X-Market Team</dc:creator>
  <cp:lastModifiedBy>X-Market Team</cp:lastModifiedBy>
  <cp:revision>1</cp:revision>
  <dcterms:created xsi:type="dcterms:W3CDTF">2026-06-17T05:36:10Z</dcterms:created>
  <dcterms:modified xsi:type="dcterms:W3CDTF">2026-06-17T05:36:10Z</dcterms:modified>
</cp:coreProperties>
</file>