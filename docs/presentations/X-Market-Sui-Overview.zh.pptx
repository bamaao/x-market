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<?xml version="1.0" encoding="utf-8"?>
<Relationships xmlns="http://schemas.openxmlformats.org/package/2006/relationships">
  
  
  
		
  
  
  <Relationship Id="rId1" Type="http://schemas.openxmlformats.org/officeDocument/2006/relationships/extended-properties" Target="docProps/app.xml"/>
  
  
  
		
  
  
  <Relationship Id="rId2" Type="http://schemas.openxmlformats.org/package/2006/relationships/metadata/core-properties" Target="docProps/core.xml"/>
  
  
  
		
  
  
  <Relationship Id="rId3" Type="http://schemas.openxmlformats.org/officeDocument/2006/relationships/officeDocument" Target="ppt/presentation.xml"/>
  
  
  
		

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2" r:id="rId23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24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
<Relationships xmlns="http://schemas.openxmlformats.org/package/2006/relationships">
  
  
  
  
  <Relationship Id="rId1" Type="http://schemas.openxmlformats.org/officeDocument/2006/relationships/slideMaster" Target="slideMasters/slideMaster1.xml"/>
  
  
  
  
  <Relationship Id="rId2" Type="http://schemas.openxmlformats.org/officeDocument/2006/relationships/slide" Target="slides/slide1.xml"/>
  
  
  
  
  <Relationship Id="rId3" Type="http://schemas.openxmlformats.org/officeDocument/2006/relationships/slide" Target="slides/slide2.xml"/>
  
  
  
  
  <Relationship Id="rId4" Type="http://schemas.openxmlformats.org/officeDocument/2006/relationships/slide" Target="slides/slide3.xml"/>
  
  
  
  
  <Relationship Id="rId5" Type="http://schemas.openxmlformats.org/officeDocument/2006/relationships/slide" Target="slides/slide4.xml"/>
  
  
  
  
  <Relationship Id="rId6" Type="http://schemas.openxmlformats.org/officeDocument/2006/relationships/slide" Target="slides/slide5.xml"/>
  
  
  
  
  <Relationship Id="rId7" Type="http://schemas.openxmlformats.org/officeDocument/2006/relationships/slide" Target="slides/slide6.xml"/>
  
  
  
  
  <Relationship Id="rId8" Type="http://schemas.openxmlformats.org/officeDocument/2006/relationships/slide" Target="slides/slide7.xml"/>
  
  
  
  
  <Relationship Id="rId9" Type="http://schemas.openxmlformats.org/officeDocument/2006/relationships/slide" Target="slides/slide8.xml"/>
  
  
  
  
  <Relationship Id="rId10" Type="http://schemas.openxmlformats.org/officeDocument/2006/relationships/slide" Target="slides/slide9.xml"/>
  
  
  
  
  <Relationship Id="rId11" Type="http://schemas.openxmlformats.org/officeDocument/2006/relationships/slide" Target="slides/slide10.xml"/>
  
  
  
  
  <Relationship Id="rId12" Type="http://schemas.openxmlformats.org/officeDocument/2006/relationships/slide" Target="slides/slide11.xml"/>
  
  
  
  
  <Relationship Id="rId13" Type="http://schemas.openxmlformats.org/officeDocument/2006/relationships/slide" Target="slides/slide12.xml"/>
  
  
  
  
  <Relationship Id="rId14" Type="http://schemas.openxmlformats.org/officeDocument/2006/relationships/slide" Target="slides/slide13.xml"/>
  
  
  
  
  <Relationship Id="rId15" Type="http://schemas.openxmlformats.org/officeDocument/2006/relationships/slide" Target="slides/slide14.xml"/>
  
  
  
  
  <Relationship Id="rId16" Type="http://schemas.openxmlformats.org/officeDocument/2006/relationships/slide" Target="slides/slide15.xml"/>
  
  
  
  
  <Relationship Id="rId17" Type="http://schemas.openxmlformats.org/officeDocument/2006/relationships/slide" Target="slides/slide16.xml"/>
  
  
  
  
  <Relationship Id="rId18" Type="http://schemas.openxmlformats.org/officeDocument/2006/relationships/notesMaster" Target="notesMasters/notesMaster1.xml"/>
  
  
  
  
  <Relationship Id="rId19" Type="http://schemas.openxmlformats.org/officeDocument/2006/relationships/presProps" Target="presProps.xml"/>
  
  
  
  
  <Relationship Id="rId20" Type="http://schemas.openxmlformats.org/officeDocument/2006/relationships/viewProps" Target="viewProps.xml"/>
  
  
  
  
  <Relationship Id="rId21" Type="http://schemas.openxmlformats.org/officeDocument/2006/relationships/theme" Target="theme/theme1.xml"/>
  
  
  
  
  <Relationship Id="rId22" Type="http://schemas.openxmlformats.org/officeDocument/2006/relationships/tableStyles" Target="tableStyles.xml"/>
  
  
  
  
  <Relationship Id="rId23" Type="http://schemas.openxmlformats.org/officeDocument/2006/relationships/slide" Target="slides/slide17.xml"/>
  
  

  
  <Relationship Id="rId24" Type="http://schemas.openxmlformats.org/officeDocument/2006/relationships/slide" Target="slides/slide18.xml"/>
  

</Relationships>

</file>

<file path=ppt/notesMasters/_rels/notesMaster1.xml.rels><?xml version="1.0" encoding="utf-8"?>
<Relationships xmlns="http://schemas.openxmlformats.org/package/2006/relationships">
  
  
  
		
  
  
  <Relationship Id="rId1" Type="http://schemas.openxmlformats.org/officeDocument/2006/relationships/theme" Target="../theme/theme1.xml"/>
  
  
  
		


</Relationships>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1.xml"/>
  
  
  
		


</Relationships>

</file>

<file path=ppt/notesSlides/_rels/notesSlide2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2.xml"/>
  
  
  
		


</Relationships>

</file>

<file path=ppt/notesSlides/_rels/notesSlide3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3.xml"/>
  
  
  
		


</Relationships>

</file>

<file path=ppt/notesSlides/_rels/notesSlide4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4.xml"/>
  
  
  
		


</Relationships>

</file>

<file path=ppt/notesSlides/_rels/notesSlide5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5.xml"/>
  
  
  
		


</Relationships>

</file>

<file path=ppt/notesSlides/_rels/notesSlide6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6.xml"/>
  
  
  
		


</Relationships>

</file>

<file path=ppt/notesSlides/_rels/notesSlide7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7.xml"/>
  
  
  
		


</Relationships>

</file>

<file path=ppt/notesSlides/_rels/notesSlide8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8.xml"/>
  
  
  
		


</Relationships>

</file>

<file path=ppt/notesSlides/_rels/notesSlide9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9.xml"/>
  
  
  
		


</Relationships>

</file>

<file path=ppt/notesSlides/_rels/notesSlide10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10.xml"/>
  
  
  
		


</Relationships>

</file>

<file path=ppt/notesSlides/_rels/notesSlide11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11.xml"/>
  
  
  
		


</Relationships>

</file>

<file path=ppt/notesSlides/_rels/notesSlide12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12.xml"/>
  
  
  
		


</Relationships>

</file>

<file path=ppt/notesSlides/_rels/notesSlide13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13.xml"/>
  
  
  
		


</Relationships>

</file>

<file path=ppt/notesSlides/_rels/notesSlide14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14.xml"/>
  
  
  
		


</Relationships>

</file>

<file path=ppt/notesSlides/_rels/notesSlide15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15.xml"/>
  
  
  
		


</Relationships>

</file>

<file path=ppt/notesSlides/_rels/notesSlide16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16.xml"/>
  
  
  
		


</Relationships>

</file>

<file path=ppt/notesSlides/_rels/notesSlide18.xml.rels><?xml version="1.0" encoding="utf-8"?>
<Relationships xmlns="http://schemas.openxmlformats.org/package/2006/relationships">
  
  
  
			
  
  
  <Relationship Id="rId1" Type="http://schemas.openxmlformats.org/officeDocument/2006/relationships/notesMaster" Target="../notesMasters/notesMaster1.xml"/>
  
  
  
			
  
  
  <Relationship Id="rId2" Type="http://schemas.openxmlformats.org/officeDocument/2006/relationships/slide" Target="../slides/slide18.xml"/>
  
  
  
		


</Relationships>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
<p:notes xmlns:a="http://schemas.openxmlformats.org/drawingml/2006/main" xmlns:r="http://schemas.openxmlformats.org/officeDocument/2006/relationships" xmlns:p="http://schemas.openxmlformats.org/presentationml/2006/main">
  
  
  <p:cSld>
    
    
    <p:spTree>
      
      
      <p:nvGrpSpPr>
        
        
        <p:cNvPr id="1" name=""/>
        
        
        <p:cNvGrpSpPr/>
        
        
        <p:nvPr/>
        
      
      </p:nvGrpSpPr>
      
      
      <p:grpSpPr>
        
        
        <a:xfrm>
          
          
          <a:off x="0" y="0"/>
          
          
          <a:ext cx="0" cy="0"/>
          
          
          <a:chOff x="0" y="0"/>
          
          
          <a:chExt cx="0" cy="0"/>
          
        
        </a:xfrm>
        
      
      </p:grpSpPr>
      
      
      <p:sp>
        
        
        <p:nvSpPr>
          
          
          <p:cNvPr id="2" name="Slide Image Placeholder 1"/>
          
          
          <p:cNvSpPr>
            
            
            <a:spLocks noGrp="1" noRot="1" noChangeAspect="1"/>
            
          
          </p:cNvSpPr>
          
          
          <p:nvPr>
            
            
            <p:ph type="sldImg"/>
            
          
          </p:nvPr>
          
        
        </p:nvSpPr>
        
        
        <p:spPr/>
        
      
      </p:sp>
      
      
      <p:sp>
        
        
        <p:nvSpPr>
          
          
          <p:cNvPr id="3" name="Notes Placeholder 2"/>
          
          
          <p:cNvSpPr>
            
            
            <a:spLocks noGrp="1"/>
            
          
          </p:cNvSpPr>
          
          
          <p:nvPr>
            
            
            <p:ph type="body" idx="1"/>
            
          
          </p:nvPr>
          
        
        </p:nvSpPr>
        
        
        <p:spPr/>
        
        
        <p:txBody>
          
          
          <a:bodyPr/>
          
          
          <a:lstStyle/>
          
          
          <a:p>
            <a:r>
              <a:rPr lang="zh-CN" dirty="0"/>
              <a:t>口播稿（约 75 秒）</a:t>
            </a:r>
            <a:endParaRPr lang="zh-CN" dirty="0"/>
          </a:p>
          <a:p>
            <a:r>
              <a:rPr lang="zh-CN" dirty="0"/>
              <a:t></a:t>
            </a:r>
            <a:endParaRPr lang="zh-CN" dirty="0"/>
          </a:p>
          <a:p>
            <a:r>
              <a:rPr lang="zh-CN" dirty="0"/>
              <a:t>走完整套架构之后，我们用「结论与展望」来收束。</a:t>
            </a:r>
            <a:endParaRPr lang="zh-CN" dirty="0"/>
          </a:p>
          <a:p>
            <a:r>
              <a:rPr lang="zh-CN" dirty="0"/>
              <a:t></a:t>
            </a:r>
            <a:endParaRPr lang="zh-CN" dirty="0"/>
          </a:p>
          <a:p>
            <a:r>
              <a:rPr lang="zh-CN" dirty="0"/>
              <a:t>结论上，X-Market 要回答的不是「再做一个预测市场」，而是把预测从 Yes/No 博彩升级为 PDF 概率衍生品。博弈模块与 SuiProphet 共用 EventRoot 和统一 Oracle，同一事件的下注、解锁和结算指向同一个真相源。链上 PDF 定价加上 Seal 强制审计，让交易者、LP、预言家和协议四方都能在一个可持续的生态里获利。Testnet v2 已经全栈跑通——这不是概念，是已验证的产品。</a:t>
            </a:r>
            <a:endParaRPr lang="zh-CN" dirty="0"/>
          </a:p>
          <a:p>
            <a:r>
              <a:rPr lang="zh-CN" dirty="0"/>
              <a:t></a:t>
            </a:r>
            <a:endParaRPr lang="zh-CN" dirty="0"/>
          </a:p>
          <a:p>
            <a:r>
              <a:rPr lang="zh-CN" dirty="0"/>
              <a:t>展望上，短期我们聚焦 Phase 3 收尾：Variance Swap、Slash 治理，以及 ZK Attestation 冷路径从 mock 走向 live 监督线——Brevis Prover 登记 proof_hash，3600 秒挑战窗口，不阻塞 buy_* 热路径。PDF 侧，Beta 分布覆盖得票率、独立双池联合概率、更多垂直市场并行扩展。外部审计通过后推进 Mainnet；Circle USDC 主网结算同步落地。GeoBlock 只是前端按 IP 限制 Web 访问的合规配套，不替代 KYC，也不阻止直接链上交互。</a:t>
            </a:r>
            <a:endParaRPr lang="zh-CN" dirty="0"/>
          </a:p>
          <a:p>
            <a:r>
              <a:rPr lang="zh-CN" dirty="0"/>
              <a:t></a:t>
            </a:r>
            <a:endParaRPr lang="zh-CN" dirty="0"/>
          </a:p>
          <a:p>
            <a:r>
              <a:rPr lang="zh-CN" dirty="0"/>
              <a:t>长期，我们要成为 Sui 链上概率分布衍生品与链上知识付费的基础设施层，服务零售、LP、专业预言家和量化机构；EventRoot 全量迁移，SDK 和 Quant API 对外开放。用链上 PDF 取代碎片化 Yes/No，用强制审计取代虚假带单——这就是我们看到的终局。</a:t>
            </a:r>
            <a:endParaRPr lang="zh-CN" dirty="0"/>
          </a:p>
          <a:p>
            <a:r>
              <a:rPr lang="zh-CN" dirty="0"/>
              <a:t></a:t>
            </a:r>
            <a:endParaRPr lang="zh-CN" dirty="0"/>
          </a:p>
          <a:p>
            <a:r>
              <a:rPr lang="zh-CN" dirty="0"/>
              <a:t>转场：翻到「谢谢」页，开放 Q&A。</a:t>
            </a:r>
            <a:endParaRPr lang="zh-CN" dirty="0"/>
          </a:p>
          
        
        </p:txBody>
        
      
      </p:sp>
      
      
      <p:sp>
        
        
        <p:nvSpPr>
          
          
          <p:cNvPr id="4" name="Slide Number Placeholder 3"/>
          
          
          <p:cNvSpPr>
            
            
            <a:spLocks noGrp="1"/>
            
          
          </p:cNvSpPr>
          
          
          <p:nvPr>
            
            
            <p:ph type="sldNum" sz="quarter" idx="10"/>
            
          
          </p:nvPr>
          
        
        </p:nvSpPr>
        
        
        <p:spPr/>
        
        
        <p:txBody>
          
          
          <a:bodyPr/>
          
          
          <a:lstStyle/>
          
          
          <a:p>
            
            
            <a:fld id="{F7021451-1387-4CA6-816F-3879F97B5CBC}" type="slidenum">
              
              
              <a:rPr lang="en-US"/>
              
              
              <a:t>17</a:t>
              
            
            </a:fld>
            
            
            <a:endParaRPr lang="en-US"/>
            
          
          </a:p>
          
        
        </p:txBody>
        
      
      </p:sp>
      
    
    </p:spTree>
    
    
    <p:extLst>
      
      
      <p:ext uri="{BB962C8B-B14F-4D97-AF65-F5344CB8AC3E}">
        
        
        <p14:creationId xmlns:p14="http://schemas.microsoft.com/office/powerpoint/2010/main" val="1024086991"/>
        
      
      </p:ext>
      
    
    </p:extLst>
    
  
  </p:cSld>
  
  
  <p:clrMapOvr>
    
    
    <a:masterClrMapping/>
    
  
  </p:clrMapOvr>
  

</p:notes>

</file>

<file path=ppt/slideLayouts/_rels/slideLayout1.xml.rels><?xml version="1.0" encoding="utf-8"?>
<Relationships xmlns="http://schemas.openxmlformats.org/package/2006/relationships">
  
  
  
  
  <Relationship Id="rId1" Type="http://schemas.openxmlformats.org/officeDocument/2006/relationships/slideMaster" Target="../slideMasters/slideMaster1.xml"/>
  
  


</Relationships>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theme" Target="../theme/theme1.xml"/>
  
  


</Relationships>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1.xml"/>
  
  


</Relationships>

</file>

<file path=ppt/slides/_rels/slide2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2.xml"/>
  
  


</Relationships>

</file>

<file path=ppt/slides/_rels/slide3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3.xml"/>
  
  


</Relationships>

</file>

<file path=ppt/slides/_rels/slide4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4.xml"/>
  
  


</Relationships>

</file>

<file path=ppt/slides/_rels/slide5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5.xml"/>
  
  


</Relationships>

</file>

<file path=ppt/slides/_rels/slide6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6.xml"/>
  
  


</Relationships>

</file>

<file path=ppt/slides/_rels/slide7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7.xml"/>
  
  


</Relationships>

</file>

<file path=ppt/slides/_rels/slide8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8.xml"/>
  
  


</Relationships>

</file>

<file path=ppt/slides/_rels/slide9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9.xml"/>
  
  


</Relationships>

</file>

<file path=ppt/slides/_rels/slide10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10.xml"/>
  
  


</Relationships>

</file>

<file path=ppt/slides/_rels/slide11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11.xml"/>
  
  


</Relationships>

</file>

<file path=ppt/slides/_rels/slide12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12.xml"/>
  
  


</Relationships>

</file>

<file path=ppt/slides/_rels/slide13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13.xml"/>
  
  


</Relationships>

</file>

<file path=ppt/slides/_rels/slide14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14.xml"/>
  
  


</Relationships>

</file>

<file path=ppt/slides/_rels/slide15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15.xml"/>
  
  


</Relationships>

</file>

<file path=ppt/slides/_rels/slide16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
  
  <Relationship Id="rId2" Type="http://schemas.openxmlformats.org/officeDocument/2006/relationships/notesSlide" Target="../notesSlides/notesSlide16.xml"/>
  
  


</Relationships>

</file>

<file path=ppt/slides/_rels/slide17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

</Relationships>

</file>

<file path=ppt/slides/_rels/slide18.xml.rels><?xml version="1.0" encoding="utf-8"?>
<Relationships xmlns="http://schemas.openxmlformats.org/package/2006/relationships">
  
  
  
  
  <Relationship Id="rId1" Type="http://schemas.openxmlformats.org/officeDocument/2006/relationships/slideLayout" Target="../slideLayouts/slideLayout1.xml"/>
  
  
  <Relationship Id="rId2" Type="http://schemas.openxmlformats.org/officeDocument/2006/relationships/notesSlide" Target="../notesSlides/notesSlide18.xml"/>
  
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43400"/>
            <a:ext cx="9144000" cy="777240"/>
          </a:xfrm>
          <a:prstGeom prst="rect">
            <a:avLst/>
          </a:prstGeom>
          <a:solidFill>
            <a:srgbClr val="065A82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371600"/>
            <a:ext cx="109728" cy="2194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2801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on Sui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77240" y="21031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概率分布衍生品 · 链上预测市场新范式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7432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Yes/No 博彩到 PDF 定价金融衍生品 — 博弈与知识付费共生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4526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2026年6月 · Testnet v2 已上线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行业痛点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传统预测市场的结构性缺陷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二元碎片化 — 无法表达连续概率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Yes/No 代币把 CPI、进球数、选举份额等连续/离散变量拆成大量独立盘口，流动性分散、定价粗糙，机构无法对冲区间风险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423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带单无审计 — KOL 战绩可伪造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2761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Web2/Web3 带单生态缺乏链上不可篡改战绩；付费解锁后无法事后验证，虚假预言家泛滥，订阅者信任成本高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520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566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中心化做市 — 大户被限仓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3904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传统博彩平台是庄家 vs 散户模式，量化资金与机构套利空间被限仓/封号，链上缺乏真正的流动性池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4663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709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结算割裂 — 博弈与信息数据孤岛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5047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下注结果与付费分析使用不同数据源和结算逻辑，同一事件的多维价值无法在同一根节点上聚合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434840"/>
            <a:ext cx="8412480" cy="5029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核心洞察：预测市场需要从「结果博彩」升级为「概率分布衍生品市场」— 交易方向、区间、波动率与结构化风险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市场机会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三大增量赛道与 X-Market 切入点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34440"/>
            <a:ext cx="2697480" cy="6400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3533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链上衍生品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$50B+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5720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 衍生品 TAM（2026）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9768" y="28803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参数化 AMM 承接机构对冲需求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Normal/Poisson/Dirichlet 覆盖宏观·体育·选举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 Swap 等 Phase 3 结构化产品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0" y="123444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1234440"/>
            <a:ext cx="2697480" cy="6400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3533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知识付费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37560" y="2011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$300B+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33756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全球付费内容市场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10128" y="28803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链上战绩筛选真 KOL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加密 + 事后强制公开审计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即时解锁 · 知识资产代币化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080760" y="1234440"/>
            <a:ext cx="269748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80760" y="1234440"/>
            <a:ext cx="2697480" cy="6400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135331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预测市场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20116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高速增长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17920" y="25146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Polymarket 等验证 PMF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90488" y="288036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USDC 原生结算降低摩擦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冷启动无需外部 LP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并行执行支撑多市场并发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独占「概率衍生品 + 知识付费」双模块协同位 — 同一 EventRoot 绑定博弈与付费，数据不割裂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业务价值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四方共赢的产品生态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164592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463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交易者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48840" y="1188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1298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交易概率曲线而非碎片代币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94960" y="1298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区间/数字期权 · 结构化票据 · Max-Loss 风控 · 透明 PDF 定价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331720"/>
            <a:ext cx="1645920" cy="9601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" y="2606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承销商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148840" y="2331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86000" y="2441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赚滑点 + Theta + 错误定价本金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94960" y="2441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 申购赎回 · Opening Auction 内生流动性 · LP Guard 动态费率保护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474720"/>
            <a:ext cx="1645920" cy="9601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749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预言家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148840" y="3474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0" y="3584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全链胜率背书 + 付费解锁收入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394960" y="3584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私密分析 · 链上战绩积累 · 链上门槛校验后开通付费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617720"/>
            <a:ext cx="1645920" cy="9601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4892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协议 / 平台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148840" y="4617720"/>
            <a:ext cx="66294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472744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解锁费抽成 + 交易费率 + 生态网络效应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94960" y="472744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Crank 自动结算 · 排行榜驱动流量 · 多市场并行扩展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解决方案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双模块共用 EventRoot · 统一 Oracle 结算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88720"/>
            <a:ext cx="73152" cy="20116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博弈模块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627632"/>
            <a:ext cx="37033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参数化 AMM：交易修改 μ/σ/λ/α，PDF 实时更新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Poisson 足球 · Dirichlet 选举 · Normal 宏观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→ Trading → Oracle 结算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原生 USDC Vault + Max-Loss 约束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18872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188720"/>
            <a:ext cx="73152" cy="20116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29844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知识付费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627632"/>
            <a:ext cx="370332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加密私密预测 · paid_buyers 付费立看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lock_time 后强制公开 · 全链战绩审计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Score 排行榜筛选真 KOL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与博弈模块共用 Oracle resolved_value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246888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8640" y="35661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L0 Oracle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乐观提议 → 争议 → 委员会终裁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3931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C39A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291840" y="3429000"/>
            <a:ext cx="246888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383280" y="35661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EventRoot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同一事件 · 同一 lock_time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806440" y="3931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2C39A"/>
                </a:solidFill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126480" y="3429000"/>
            <a:ext cx="246888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217920" y="356616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双模块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 博弈 + 知识付费并行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技术差异化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参数化 AMM vs 传统二元盘口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3444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48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传统 Yes/No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X-Market 参数化 AMM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C39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定价对象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离散结果代币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概率分布函数 PDF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流动性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 outcome 独立池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统一 Vault + 参数调整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合约类型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二元赌局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区间 · 数字 · Call/Put · Variance Swap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冷启动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依赖外部 LP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Opening Auction 内生定标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机构接入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限仓/封号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透明池 + 量化套利空间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知识生态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无链上审计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SuiProphet 强制事后公开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794760"/>
            <a:ext cx="73152" cy="9144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90448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链上数学引擎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233672"/>
            <a:ext cx="80924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Q32.32 定点数 · exp/erf LUT 查表 · Tier 1 原子完成参数更新与概率计算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链上为唯一真相源 · Pricing Engine 仅作 Preview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性能优势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并行架构 + 链上原子计算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并行执行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 event_id 分片，多市场并行结算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Position/Prophecy 为独立 Object，无全局锁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适合多池 + 多预言家并存的高并发场景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链上原子计算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1：参数更新 + 概率计算同一 PTB 完成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 Oracle 签名更新定价参数，消除延迟套利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LUT 查表降低 exp/erf 计算 Gas 开销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Indexer 异步增强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Crush / IV / Vol Smile 链下独立计算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索引 + REST API 毫秒级查询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不阻塞链上结算路径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多端定价桥接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+ Rust pricing bridge 本地 Preview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与 math-spec 对齐，所见即所得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减少无效链上交易提交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安全设计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多层风控 · 链上可验证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Max-Loss 边界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每笔 buy_* 前链上最坏情景赔付 ≤ Vault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Slippage Reject 强制拒绝资不抵债交易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risk.move 全路径覆盖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⚖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动态防守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Keeper 监测参数漂移 + 偏度 + 成交量 EMA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风险满分有效费率可达 800 bps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sigma_virtual / resolution_window 时间锁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委员会终裁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乐观提议 + 争议立案 + 多签委员会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 Admin 单方结算 · 质押博弈机制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禁止参与 AMM 定价参数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隐私 + Slash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OR 策略：付费立看 / 到期公开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治理 timelock + 多签执行通道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ZK 见证冷路径：3600s 挑战窗口 + 延迟 finalize（Attestation，不阻塞交易）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可靠性保障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终裁 · 状态机 · 运维体系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统一结算真相源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macro_oracle + oracle_arbitrator 全产品唯一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 DataFeed → 博弈 claim + Prophet 审计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自动注册，前端无需硬编码 env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市场状态机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Auction → Trading → Settled 严格流转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到期 resolution_window 禁 buy_*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paused 应急暂停 + 演练留痕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🏗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链下服务矩阵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· Oracle Relayer · Walrus Relay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Audit Keeper · Chain Monitor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编排 + 健康检查脚本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主网就绪体系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mainnet-readiness-checklist 可执行清单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治理参数签字版 + 应急演练模板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move test 全模块覆盖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易用性体验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+ Mobile · 稳定币原生 · 多端体验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💵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原生体验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原生 USDC，非自铸测试币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买入/解锁/赔付全程稳定币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链上提交由钱包自付 SUI Gas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定价预览与引导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Engine 链下报价 Preview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TradePanel 实时胜率与 ROI 估算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减少无效链上提交，所见即所得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+ Mobile 双端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15 + @mysten/dapp-kit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移动端 + Rust 定价 Preview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/markets · /lp · /positions · /prophet · /leaderboard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文档与 FAQ 完备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faq-public 路演短版问答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demo-walkthrough 端到端演示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playbook 分阶段运维指南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商业模式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协议收入与生态飞轮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269748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25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交易费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801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 滑点 + fee_multiplier 协议分成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2697480" cy="1051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3246120" y="1325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解锁费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46120" y="1801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私密预测抽成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234440"/>
            <a:ext cx="2697480" cy="1051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325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溢价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126480" y="1801368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+ NAV 管理费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468880"/>
            <a:ext cx="4023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468880"/>
            <a:ext cx="73152" cy="2286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5786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生态飞轮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2907792"/>
            <a:ext cx="37033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高换手事件池 → LP 滑点收入 → 更多 LP 注入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预言家战绩公开 → 排行榜信任 → 订阅解锁增长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 结算可信 → 机构量化接入 → 池深增加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双模块共用 EventRoot → 交叉导流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468880"/>
            <a:ext cx="40233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468880"/>
            <a:ext cx="73152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5786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竞争优势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37760" y="2907792"/>
            <a:ext cx="37033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定价：机构级衍生品 vs 散户博彩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 对象模型：Position NFT 可 transfer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+ 强制审计：知识付费信任闭环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全栈已验证，非概念阶段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进展与验证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已落地能力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1965960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链上模块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14600" y="1234440"/>
            <a:ext cx="1965960" cy="1051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251460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1460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分布模板已部署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234440"/>
            <a:ext cx="1965960" cy="105156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8+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66344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链下微服务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12280" y="1234440"/>
            <a:ext cx="1965960" cy="105156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812280" y="1325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12280" y="1801368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上线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423160"/>
          <a:ext cx="8412480" cy="914400"/>
        </p:xfrm>
        <a:graphic>
          <a:graphicData uri="http://schemas.openxmlformats.org/drawingml/2006/table">
            <a:tbl>
              <a:tblPr/>
              <a:tblGrid>
                <a:gridCol w="685800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已落地能力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Poisson / Dirichlet / Normal + 区间/数字期权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Opening Auction → Trading → Oracle 结算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USDC Vault + Max-Loss 约束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LP Guard 动态费率 + NAV 申购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SuiProphet Seal Commit + 排行榜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Indexer PostgreSQL + REST API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Flutter Mobile + Rust Pricing Bridge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未来发展方向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 · 生态 · 主网 · 规模化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📈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产品纵深扩展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 衍生：Variance Swap · Structured/Range/Barrier Note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分布覆盖得票率 [0,100] · 独立双池联合概率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二级市场转让 · 更多垂直市场（宏观/体育/选举）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Engine SDK 供量化机构接入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🌐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生态增长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预言家 ≥100 · 付费解锁 GMV ≥$50K/月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排行榜 + 订阅者 ROI 聚合（Indexer 增强）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 明文缓存 · lock_time 后强制公开审计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纯稳定币体验 · Web + Mobile 双端覆盖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🚀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主网上线与合规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外部安全审计收敛 · 治理多签 + Slash timelock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USDC Mainnet · GeoBlock 合规框架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mainnet-readiness 演练留痕（Slash/ZK/结算）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DVM 可选仲裁适配器（与内置委员会并存）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⚙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基础设施与机构化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EventRoot 包装迁移（非硬分叉）· Indexer EventRoot 索引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Brevis 链下监督（可选）：映射 proof_hash，链上仍为见证 + 挑战窗口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Keeper 生产化 · Chain Monitor 告警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机构 AUM 目标 ≥$5M · Flutter 主网双端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分阶段规划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1–4 进展与 Mainnet 路径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已完成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三分布模板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区间/数字期权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Max-Loss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Vault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46888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6888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1.5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46888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已完成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6032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Token + NAV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市场状态机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冷启动定标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1772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C39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1772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1772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已完成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0916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线性期权 · Straddle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LP Guard 动态费率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 赎回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面板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76656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6656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收尾中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85800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Variance Swap + 结构化票据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治理 · ZK 冷路径见证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分布 · UMA DVM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外部审计 → Mainnet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915400" y="1234440"/>
            <a:ext cx="1965960" cy="3337560"/>
          </a:xfrm>
          <a:prstGeom prst="rect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915400" y="13716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915400" y="17373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72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 规模化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006840" y="2103120"/>
            <a:ext cx="1783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EventRoot 全量迁移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Audit Keeper 自动化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订阅者 ROI · GMV 指标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Quant API 开放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 联合 PDF 模型：主网后 6–12 个月内不上线，优先 Tier 1 + 结构化票据 + SuiProphet 生态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里程碑与 KPI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可量化增长目标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3444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  <a:gridCol w="3108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核心指标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目标值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种子市场 / 周活 / TVL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≥3 池 · ≥500 交易者 · ≥$500K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SDK / 量化接入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≥3 家机构或 SDK 集成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机构 AUM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$5M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注册预言家 / 解锁 GMV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人 · ≥$50K/月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Mainnet+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市场覆盖 / 结算可靠性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729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多垂直并行 · Oracle 零单点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365760" y="3246120"/>
            <a:ext cx="84124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246120"/>
            <a:ext cx="73152" cy="16916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355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长期愿景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3685032"/>
            <a:ext cx="8092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成为 Sui 链上「概率分布衍生品 + 链上知识付费」基础设施层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服务零售交易者、LP 承销商、专业预言家与量化机构四类参与者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以链上 PDF 定价取代碎片化 Yes/No，以强制审计取代虚假带单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0" y="1554480"/>
            <a:ext cx="2743200" cy="731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谢谢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2514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欢迎交流 · Questions &amp; Discussion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X-Market = 概率分布衍生品协议 + 链上知识付费生态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全栈已验证 · 主网与规模化路径清晰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x-market-sui · PRD.zh.md · testnet.suivision.xyz · BSL 1.1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问题概览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预测市场无法成为真正金融基础设施的三大缺口 · 约 30–60 秒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二元碎片化 — 无法表达连续概率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Yes/No 无法为 CPI 区间、选举份额、进球数定价 — 机构无法对冲区间风险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77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423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带单无审计 — KOL 战绩可伪造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2761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KOL 战绩可伪造 — 订阅者无法事后验证付费信号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520440"/>
            <a:ext cx="73152" cy="9144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566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结算割裂 — 博弈与洞察缺乏单一真相源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94360" y="3904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下注与付费分析使用不同 Oracle — 同一事件无法聚合到单一根节点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4663440"/>
            <a:ext cx="73152" cy="914400"/>
          </a:xfrm>
          <a:prstGeom prst="rect">
            <a:avLst/>
          </a:prstGeom>
          <a:solidFill>
            <a:srgbClr val="F96167">
              <a:alpha val="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47091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94360" y="5047488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434840"/>
            <a:ext cx="8412480" cy="50292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视频引导：预测市场需从「结果博彩」升级为「概率分布衍生品」— X-Market 在 Sui 上重建这一范式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结论与展望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 Testnet 验证到主网基础设施 · 约 60–90 秒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✅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4300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预测市场需从博彩升级为 PDF 概率衍生品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双模块共用 EventRoot · 统一 Oracle 结算真相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链上 PDF 定价 + Seal 强制审计 · 四方共赢生态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v2 全栈已验证，非概念阶段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937760" y="137160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532120" y="13533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已验证能力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8745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 Move 模块 · 三分布模板已部署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Auction 冷启动 · Max-Loss 全路径覆盖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SuiProphet + Indexer + Flutter 端到端打通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8+ 链下微服务 · Docker 编排生产就绪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246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🚀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4300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近期展望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3：Variance Swap · Slash 治理 · ZK 冷路径完善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Beta 分布 · 独立双池联合概率 · 更多垂直 PDF 市场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Attestation + Brevis Prover：mock → live 监督线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外部审计 → Mainnet · Circle USDC · GeoBlock（前端合规）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54880" y="3063240"/>
            <a:ext cx="40233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324612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3" name="Text 21"/>
          <p:cNvSpPr/>
          <p:nvPr/>
        </p:nvSpPr>
        <p:spPr>
          <a:xfrm>
            <a:off x="4937760" y="3246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🎯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32120" y="32278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长期愿景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9377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成为 Sui 链上「概率衍生品 + 知识付费」基础设施层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服务零售交易者、LP、预言家与量化机构四类参与者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EventRoot 全量迁移 · SDK / Quant API 开放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以链上 PDF 定价取代碎片化 Yes/No · 以强制审计取代虚假带单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X-Market on Sui</dc:title>
  <dc:subject>概率分布衍生品 · 链上预测市场新范式</dc:subject>
  <dc:creator>X-Market Team</dc:creator>
  <cp:lastModifiedBy>X-Market Team</cp:lastModifiedBy>
  <cp:revision>1</cp:revision>
  <dcterms:created xsi:type="dcterms:W3CDTF">2026-06-17T05:36:10Z</dcterms:created>
  <dcterms:modified xsi:type="dcterms:W3CDTF">2026-06-17T05:36:10Z</dcterms:modified>
</cp:coreProperties>
</file>